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36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64922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WerkstattPilot</a:t>
            </a:r>
          </a:p>
          <a:p>
            <a:pPr>
              <a:defRPr sz="18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Digitale Auftragsabwicklung für KFZ-Werkstätten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834640"/>
            <a:ext cx="32918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944368"/>
            <a:ext cx="30175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Projektarbeit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Software Engineering 1</a:t>
            </a:r>
            <a:br/>
            <a:r>
              <a:rPr>
                <a:latin typeface="Arial"/>
              </a:rPr>
              <a:t>Arbeitsgruppe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834640"/>
            <a:ext cx="32918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34840" y="2944368"/>
            <a:ext cx="30175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Team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Livio Luna</a:t>
            </a:r>
            <a:br/>
            <a:r>
              <a:rPr>
                <a:latin typeface="Arial"/>
              </a:rPr>
              <a:t>Dominic Lolos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2834640"/>
            <a:ext cx="32918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0" y="2944368"/>
            <a:ext cx="30175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 dirty="0" err="1">
                <a:latin typeface="Arial"/>
              </a:rPr>
              <a:t>Abgabe</a:t>
            </a:r>
            <a:endParaRPr dirty="0">
              <a:latin typeface="Arial"/>
            </a:endParaRP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 dirty="0">
                <a:latin typeface="Arial"/>
              </a:rPr>
              <a:t>10.06.2026</a:t>
            </a:r>
            <a:br>
              <a:rPr dirty="0"/>
            </a:br>
            <a:r>
              <a:rPr dirty="0">
                <a:latin typeface="Arial"/>
              </a:rPr>
              <a:t>TS TSI 2502 A</a:t>
            </a:r>
          </a:p>
        </p:txBody>
      </p:sp>
      <p:pic>
        <p:nvPicPr>
          <p:cNvPr id="11" name="Picture 10" descr="aufgabe1_foli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419481"/>
            <a:ext cx="3840480" cy="21602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WerkstattPilot | Arbeitsgruppe 3 | Livio Luna / Dominic Lolos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Ausgangslage und Problemstellung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Warum WerkstattPilot benötigt wird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1325880"/>
          </a:xfrm>
          <a:prstGeom prst="roundRect">
            <a:avLst/>
          </a:prstGeom>
          <a:solidFill>
            <a:srgbClr val="DDEBF7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18488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Medienbrüche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Aufträge, Arbeitszeiten und Teile werden heute oft mit Papier und Excel erfasst.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383280" cy="1325880"/>
          </a:xfrm>
          <a:prstGeom prst="roundRect">
            <a:avLst/>
          </a:prstGeom>
          <a:solidFill>
            <a:srgbClr val="DDEBF7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1618488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Doppelte Erfassung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Manuelle Übertragung verursacht Zeitverlust und erhöht das Fehlerrisiko.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08760"/>
            <a:ext cx="3383280" cy="1325880"/>
          </a:xfrm>
          <a:prstGeom prst="roundRect">
            <a:avLst/>
          </a:prstGeom>
          <a:solidFill>
            <a:srgbClr val="DDEBF7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80" y="1618488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Fehlender Überblick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Status, Termine und Lagerbestand sind nicht jederzeit transparent.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57600"/>
            <a:ext cx="99669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Ziel ist eine lokale, einfache und fehlerarme Digitalisierung der Auftragsabwicklung.</a:t>
            </a:r>
          </a:p>
          <a:p>
            <a:pPr>
              <a:spcAft>
                <a:spcPts val="600"/>
              </a:spcAft>
              <a:defRPr sz="18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Die 1. Iteration konzentriert sich auf UC1 Auftrag anlegen und UC2 Auftragsübersicht mit Statuswechsel.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WerkstattPilot | Arbeitsgruppe 3 | Livio Luna / Dominic Lolos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Ziele und Scope der 1. Iteration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Fokus auf hohen Nutzen und realistischen Implementierungsumfang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2560320" cy="1097280"/>
          </a:xfrm>
          <a:prstGeom prst="roundRect">
            <a:avLst/>
          </a:prstGeom>
          <a:solidFill>
            <a:srgbClr val="DDEBF7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35607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01 Auftragserfassung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Kunde, Fahrzeug, Beanstandung und Termin einheitlich erfassen.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1325880"/>
            <a:ext cx="2560320" cy="1097280"/>
          </a:xfrm>
          <a:prstGeom prst="roundRect">
            <a:avLst/>
          </a:prstGeom>
          <a:solidFill>
            <a:srgbClr val="DDEBF7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0" y="1435607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02 Transparenz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Aufträge anzeigen und Status nachvollziehbar ändern.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25880"/>
            <a:ext cx="2560320" cy="1097280"/>
          </a:xfrm>
          <a:prstGeom prst="roundRect">
            <a:avLst/>
          </a:prstGeom>
          <a:solidFill>
            <a:srgbClr val="DDEBF7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435607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03 Lagerführung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Teileverbrauch später nachvollziehbar machen.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1325880"/>
            <a:ext cx="2560320" cy="1097280"/>
          </a:xfrm>
          <a:prstGeom prst="roundRect">
            <a:avLst/>
          </a:prstGeom>
          <a:solidFill>
            <a:srgbClr val="DDEBF7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35440" y="1435607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04 Dokumentation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Belege lokal als PDF oder Druckausgabe vorbereiten.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63240"/>
            <a:ext cx="106070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Priorisiert wurden UC1 und UC2, da sie direkten Nutzen für Annahme, Mechanik und Serviceleitung bringen.</a:t>
            </a:r>
          </a:p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Aufgabe 5 ist bewusst ein kleiner Java-Prototyp: ConsoleClient, Mock-DB und harte Testdaten.</a:t>
            </a:r>
          </a:p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Zielbild und Prototyp sind getrennt: spätere Iterationen könnten GUI, Lagerbestand und PDF-Belege ergänzen.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WerkstattPilot | Arbeitsgruppe 3 | Livio Luna / Dominic Lolos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Projektumgebung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Gemeinsame Struktur, Werkzeuge und Zusammenarbeit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21208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Ordnerstruktur: Installation, Dokumentation, Entwicklung, Issue Tracking, Versionen und Abgabe.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Werkzeuge: Eclipse IDE, JDK 21, Git/GitHub Desktop, Visual Paradigm, Word und Excel.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Schreibweise: Java-Klassen in PascalCase, Methoden/Attribute in camelCase, Packages klein.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Beide Teammitglieder haben alle Aufgaben reviewed; Schwerpunkte dienten nur der Koordination.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3063240"/>
            <a:ext cx="8796528" cy="1984248"/>
          </a:xfrm>
          <a:prstGeom prst="roundRect">
            <a:avLst/>
          </a:prstGeom>
          <a:solidFill>
            <a:srgbClr val="FFFFFF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3154680"/>
            <a:ext cx="841248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 dirty="0">
                <a:latin typeface="Arial"/>
              </a:rPr>
              <a:t>Roter Faden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 dirty="0" err="1">
                <a:latin typeface="Arial"/>
              </a:rPr>
              <a:t>Projektauftrag</a:t>
            </a:r>
            <a:r>
              <a:rPr dirty="0">
                <a:latin typeface="Arial"/>
              </a:rPr>
              <a:t> -&gt; </a:t>
            </a:r>
            <a:r>
              <a:rPr dirty="0" err="1">
                <a:latin typeface="Arial"/>
              </a:rPr>
              <a:t>Projektumgebung</a:t>
            </a:r>
            <a:r>
              <a:rPr dirty="0">
                <a:latin typeface="Arial"/>
              </a:rPr>
              <a:t> -&gt; </a:t>
            </a:r>
            <a:r>
              <a:rPr dirty="0" err="1">
                <a:latin typeface="Arial"/>
              </a:rPr>
              <a:t>Analyse</a:t>
            </a:r>
            <a:r>
              <a:rPr dirty="0">
                <a:latin typeface="Arial"/>
              </a:rPr>
              <a:t> -&gt; Design -&gt;</a:t>
            </a:r>
            <a:r>
              <a:rPr lang="de-DE" dirty="0">
                <a:latin typeface="Arial"/>
              </a:rPr>
              <a:t> </a:t>
            </a:r>
            <a:r>
              <a:rPr dirty="0">
                <a:latin typeface="Arial"/>
              </a:rPr>
              <a:t>Implementation -&gt; Testing -&gt; </a:t>
            </a:r>
            <a:r>
              <a:rPr dirty="0" err="1">
                <a:latin typeface="Arial"/>
              </a:rPr>
              <a:t>Abgabecheck</a:t>
            </a:r>
            <a:endParaRPr dirty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WerkstattPilot | Arbeitsgruppe 3 | Livio Luna / Dominic Lolos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Objektorientierte Analyse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Fachklassenmodell für UC1 und UC2</a:t>
            </a:r>
          </a:p>
        </p:txBody>
      </p:sp>
      <p:pic>
        <p:nvPicPr>
          <p:cNvPr id="5" name="Picture 4" descr="Fachklassenmodell_auftrag3.4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400800" cy="35868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1417320"/>
            <a:ext cx="41452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 dirty="0" err="1">
                <a:latin typeface="Arial"/>
              </a:rPr>
              <a:t>Zentrale</a:t>
            </a:r>
            <a:r>
              <a:rPr dirty="0">
                <a:latin typeface="Arial"/>
              </a:rPr>
              <a:t> Klasse: </a:t>
            </a:r>
            <a:r>
              <a:rPr dirty="0" err="1">
                <a:latin typeface="Arial"/>
              </a:rPr>
              <a:t>Auftrag</a:t>
            </a:r>
            <a:r>
              <a:rPr dirty="0">
                <a:latin typeface="Arial"/>
              </a:rPr>
              <a:t>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 dirty="0" err="1">
                <a:latin typeface="Arial"/>
              </a:rPr>
              <a:t>Auftrag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verbindet</a:t>
            </a:r>
            <a:r>
              <a:rPr dirty="0">
                <a:latin typeface="Arial"/>
              </a:rPr>
              <a:t> Kunde, </a:t>
            </a:r>
            <a:r>
              <a:rPr dirty="0" err="1">
                <a:latin typeface="Arial"/>
              </a:rPr>
              <a:t>Fahrzeug</a:t>
            </a:r>
            <a:r>
              <a:rPr dirty="0">
                <a:latin typeface="Arial"/>
              </a:rPr>
              <a:t>, </a:t>
            </a:r>
            <a:r>
              <a:rPr dirty="0" err="1">
                <a:latin typeface="Arial"/>
              </a:rPr>
              <a:t>Beanstandung</a:t>
            </a:r>
            <a:r>
              <a:rPr dirty="0">
                <a:latin typeface="Arial"/>
              </a:rPr>
              <a:t> und Status.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 dirty="0" err="1">
                <a:latin typeface="Arial"/>
              </a:rPr>
              <a:t>Vererbung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wurde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geprüft</a:t>
            </a:r>
            <a:r>
              <a:rPr dirty="0">
                <a:latin typeface="Arial"/>
              </a:rPr>
              <a:t>, </a:t>
            </a:r>
            <a:r>
              <a:rPr dirty="0" err="1">
                <a:latin typeface="Arial"/>
              </a:rPr>
              <a:t>aber</a:t>
            </a:r>
            <a:r>
              <a:rPr dirty="0">
                <a:latin typeface="Arial"/>
              </a:rPr>
              <a:t> für Iteration 1 nicht </a:t>
            </a:r>
            <a:r>
              <a:rPr dirty="0" err="1">
                <a:latin typeface="Arial"/>
              </a:rPr>
              <a:t>eingesetzt</a:t>
            </a:r>
            <a:r>
              <a:rPr dirty="0">
                <a:latin typeface="Arial"/>
              </a:rPr>
              <a:t>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 dirty="0">
                <a:latin typeface="Arial"/>
              </a:rPr>
              <a:t>Das Modell </a:t>
            </a:r>
            <a:r>
              <a:rPr dirty="0" err="1">
                <a:latin typeface="Arial"/>
              </a:rPr>
              <a:t>bleibt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fachlich</a:t>
            </a:r>
            <a:r>
              <a:rPr dirty="0">
                <a:latin typeface="Arial"/>
              </a:rPr>
              <a:t> und </a:t>
            </a:r>
            <a:r>
              <a:rPr dirty="0" err="1">
                <a:latin typeface="Arial"/>
              </a:rPr>
              <a:t>verwendet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Kundensprache</a:t>
            </a:r>
            <a:r>
              <a:rPr dirty="0"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WerkstattPilot | Arbeitsgruppe 3 | Livio Luna / Dominic Lolos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Zustandsmodell Auftrag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Lebenszyklus eines Werkstattauftrags</a:t>
            </a:r>
          </a:p>
        </p:txBody>
      </p:sp>
      <p:pic>
        <p:nvPicPr>
          <p:cNvPr id="5" name="Picture 4" descr="Zustandsmodell_auftrag3.5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1234440"/>
            <a:ext cx="10746805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1960" y="3611880"/>
            <a:ext cx="32004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 dirty="0">
                <a:latin typeface="Arial"/>
              </a:rPr>
              <a:t>OFFEN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 dirty="0">
                <a:latin typeface="Arial"/>
              </a:rPr>
              <a:t>IN_ARBEIT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 dirty="0">
                <a:latin typeface="Arial"/>
              </a:rPr>
              <a:t>WARTET_AUF_TEILE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 dirty="0">
                <a:latin typeface="Arial"/>
              </a:rPr>
              <a:t>FERTIG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 dirty="0">
                <a:latin typeface="Arial"/>
              </a:rPr>
              <a:t>STORNIERT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 dirty="0" err="1">
                <a:latin typeface="Arial"/>
              </a:rPr>
              <a:t>Statuswerte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wurden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mit</a:t>
            </a:r>
            <a:r>
              <a:rPr dirty="0">
                <a:latin typeface="Arial"/>
              </a:rPr>
              <a:t> dem Java-Enum </a:t>
            </a:r>
            <a:r>
              <a:rPr dirty="0" err="1">
                <a:latin typeface="Arial"/>
              </a:rPr>
              <a:t>abgeglichen</a:t>
            </a:r>
            <a:r>
              <a:rPr dirty="0"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WerkstattPilot | Arbeitsgruppe 3 | Livio Luna / Dominic Lolos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Objektorientiertes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3-Schichtenarchitektur und technische Abhängigkeiten</a:t>
            </a:r>
          </a:p>
        </p:txBody>
      </p:sp>
      <p:pic>
        <p:nvPicPr>
          <p:cNvPr id="5" name="Picture 4" descr="uml_komponenten_aktualisi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8311896" cy="33247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4786092"/>
            <a:ext cx="8677656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323"/>
                </a:solidFill>
              </a:defRPr>
            </a:pPr>
            <a:r>
              <a:rPr dirty="0">
                <a:latin typeface="Arial"/>
              </a:rPr>
              <a:t>Presentation: </a:t>
            </a:r>
            <a:r>
              <a:rPr dirty="0" err="1">
                <a:latin typeface="Arial"/>
              </a:rPr>
              <a:t>WerkstattPilotApp</a:t>
            </a:r>
            <a:r>
              <a:rPr dirty="0">
                <a:latin typeface="Arial"/>
              </a:rPr>
              <a:t> und </a:t>
            </a:r>
            <a:r>
              <a:rPr dirty="0" err="1">
                <a:latin typeface="Arial"/>
              </a:rPr>
              <a:t>ConsoleClient</a:t>
            </a:r>
            <a:r>
              <a:rPr dirty="0">
                <a:latin typeface="Arial"/>
              </a:rPr>
              <a:t>.</a:t>
            </a:r>
          </a:p>
          <a:p>
            <a:pPr>
              <a:spcAft>
                <a:spcPts val="600"/>
              </a:spcAft>
              <a:defRPr sz="1400">
                <a:solidFill>
                  <a:srgbClr val="232323"/>
                </a:solidFill>
              </a:defRPr>
            </a:pPr>
            <a:r>
              <a:rPr dirty="0">
                <a:latin typeface="Arial"/>
              </a:rPr>
              <a:t>Business: </a:t>
            </a:r>
            <a:r>
              <a:rPr dirty="0" err="1">
                <a:latin typeface="Arial"/>
              </a:rPr>
              <a:t>AuftragService</a:t>
            </a:r>
            <a:r>
              <a:rPr dirty="0">
                <a:latin typeface="Arial"/>
              </a:rPr>
              <a:t>, </a:t>
            </a:r>
            <a:r>
              <a:rPr dirty="0" err="1">
                <a:latin typeface="Arial"/>
              </a:rPr>
              <a:t>Auftrag</a:t>
            </a:r>
            <a:r>
              <a:rPr dirty="0">
                <a:latin typeface="Arial"/>
              </a:rPr>
              <a:t>, </a:t>
            </a:r>
            <a:r>
              <a:rPr dirty="0" err="1">
                <a:latin typeface="Arial"/>
              </a:rPr>
              <a:t>Auftragsstatus</a:t>
            </a:r>
            <a:r>
              <a:rPr dirty="0">
                <a:latin typeface="Arial"/>
              </a:rPr>
              <a:t> und Factories.</a:t>
            </a:r>
          </a:p>
          <a:p>
            <a:pPr>
              <a:spcAft>
                <a:spcPts val="600"/>
              </a:spcAft>
              <a:defRPr sz="1400">
                <a:solidFill>
                  <a:srgbClr val="232323"/>
                </a:solidFill>
              </a:defRPr>
            </a:pPr>
            <a:r>
              <a:rPr dirty="0">
                <a:latin typeface="Arial"/>
              </a:rPr>
              <a:t>Persistence: </a:t>
            </a:r>
            <a:r>
              <a:rPr dirty="0" err="1">
                <a:latin typeface="Arial"/>
              </a:rPr>
              <a:t>AuftragRepository</a:t>
            </a:r>
            <a:r>
              <a:rPr dirty="0">
                <a:latin typeface="Arial"/>
              </a:rPr>
              <a:t> und Mock-DB.</a:t>
            </a:r>
          </a:p>
          <a:p>
            <a:pPr>
              <a:spcAft>
                <a:spcPts val="600"/>
              </a:spcAft>
              <a:defRPr sz="1400">
                <a:solidFill>
                  <a:srgbClr val="232323"/>
                </a:solidFill>
              </a:defRPr>
            </a:pPr>
            <a:r>
              <a:rPr dirty="0" err="1">
                <a:latin typeface="Arial"/>
              </a:rPr>
              <a:t>Wichtig</a:t>
            </a:r>
            <a:r>
              <a:rPr dirty="0">
                <a:latin typeface="Arial"/>
              </a:rPr>
              <a:t>: Presentation </a:t>
            </a:r>
            <a:r>
              <a:rPr dirty="0" err="1">
                <a:latin typeface="Arial"/>
              </a:rPr>
              <a:t>greift</a:t>
            </a:r>
            <a:r>
              <a:rPr dirty="0">
                <a:latin typeface="Arial"/>
              </a:rPr>
              <a:t> nicht </a:t>
            </a:r>
            <a:r>
              <a:rPr dirty="0" err="1">
                <a:latin typeface="Arial"/>
              </a:rPr>
              <a:t>direkt</a:t>
            </a:r>
            <a:r>
              <a:rPr dirty="0">
                <a:latin typeface="Arial"/>
              </a:rPr>
              <a:t> auf Persistence </a:t>
            </a:r>
            <a:r>
              <a:rPr dirty="0" err="1">
                <a:latin typeface="Arial"/>
              </a:rPr>
              <a:t>zu</a:t>
            </a:r>
            <a:r>
              <a:rPr dirty="0"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WerkstattPilot | Arbeitsgruppe 3 | Livio Luna / Dominic Lolos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Designmodell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Repository, Factory und Singleton sichtbar eingesetzt</a:t>
            </a:r>
          </a:p>
        </p:txBody>
      </p:sp>
      <p:pic>
        <p:nvPicPr>
          <p:cNvPr id="5" name="Picture 4" descr="uml_integriert_aktualisi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1325880"/>
            <a:ext cx="7296912" cy="4800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WerkstattPilot | Arbeitsgruppe 3 | Livio Luna / Dominic Lolos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Sequenzdiagramm UC1 Auftrag anlegen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Normalablauf vom ConsoleClient bis zur Mock-DB</a:t>
            </a:r>
          </a:p>
        </p:txBody>
      </p:sp>
      <p:pic>
        <p:nvPicPr>
          <p:cNvPr id="5" name="Picture 4" descr="uml_sequenz_aktualisi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10881360" cy="5440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WerkstattPilot | Arbeitsgruppe 3 | Livio Luna / Dominic Lolos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Implementation in 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Basic-Java-Prototyp ohne externe Datenbank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52120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Package presentation: WerkstattPilotApp, ConsoleClient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Package business: Auftrag, AuftragService, AuftragServiceImpl, AuftragFactory, Auftragsstatus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Package persistence: AuftragRepository, AuftragRepositoryFactory, AuftragRepositoryMock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Test-Packages: einfache Java-Testklassen ohne externe Bibliothek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Mock-DB im Hauptspeicher mit ArrayList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3108960"/>
            <a:ext cx="484632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3218688"/>
            <a:ext cx="45720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 dirty="0" err="1">
                <a:latin typeface="Arial"/>
              </a:rPr>
              <a:t>Implementierte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fachliche</a:t>
            </a:r>
            <a:r>
              <a:rPr dirty="0">
                <a:latin typeface="Arial"/>
              </a:rPr>
              <a:t> Klasse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 dirty="0" err="1">
                <a:latin typeface="Arial"/>
              </a:rPr>
              <a:t>Auftrag</a:t>
            </a:r>
            <a:br>
              <a:rPr dirty="0"/>
            </a:br>
            <a:br>
              <a:rPr dirty="0"/>
            </a:br>
            <a:r>
              <a:rPr dirty="0">
                <a:latin typeface="Arial"/>
              </a:rPr>
              <a:t>Attribute </a:t>
            </a:r>
            <a:r>
              <a:rPr dirty="0" err="1">
                <a:latin typeface="Arial"/>
              </a:rPr>
              <a:t>im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Prototyp</a:t>
            </a:r>
            <a:r>
              <a:rPr dirty="0">
                <a:latin typeface="Arial"/>
              </a:rPr>
              <a:t>:</a:t>
            </a:r>
            <a:br>
              <a:rPr dirty="0"/>
            </a:br>
            <a:r>
              <a:rPr dirty="0">
                <a:latin typeface="Arial"/>
              </a:rPr>
              <a:t>- </a:t>
            </a:r>
            <a:r>
              <a:rPr dirty="0" err="1">
                <a:latin typeface="Arial"/>
              </a:rPr>
              <a:t>auftragsNummer</a:t>
            </a:r>
            <a:br>
              <a:rPr dirty="0"/>
            </a:br>
            <a:r>
              <a:rPr dirty="0">
                <a:latin typeface="Arial"/>
              </a:rPr>
              <a:t>- status</a:t>
            </a:r>
            <a:br>
              <a:rPr dirty="0"/>
            </a:br>
            <a:br>
              <a:rPr dirty="0"/>
            </a:br>
            <a:r>
              <a:rPr dirty="0" err="1">
                <a:latin typeface="Arial"/>
              </a:rPr>
              <a:t>Weitere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fachliche</a:t>
            </a:r>
            <a:r>
              <a:rPr dirty="0">
                <a:latin typeface="Arial"/>
              </a:rPr>
              <a:t> Attribute </a:t>
            </a:r>
            <a:r>
              <a:rPr dirty="0" err="1">
                <a:latin typeface="Arial"/>
              </a:rPr>
              <a:t>werden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im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Zielbild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beschrieben</a:t>
            </a:r>
            <a:r>
              <a:rPr dirty="0">
                <a:latin typeface="Arial"/>
              </a:rPr>
              <a:t>, </a:t>
            </a:r>
            <a:r>
              <a:rPr dirty="0" err="1">
                <a:latin typeface="Arial"/>
              </a:rPr>
              <a:t>aber</a:t>
            </a:r>
            <a:r>
              <a:rPr dirty="0">
                <a:latin typeface="Arial"/>
              </a:rPr>
              <a:t> nicht </a:t>
            </a:r>
            <a:r>
              <a:rPr dirty="0" err="1">
                <a:latin typeface="Arial"/>
              </a:rPr>
              <a:t>im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kleinen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Prototyp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umgesetzt</a:t>
            </a:r>
            <a:r>
              <a:rPr dirty="0"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WerkstattPilot | Arbeitsgruppe 3 | Livio Luna / Dominic Lolos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Testing und Endbenutzertest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Nachweis der wichtigsten Funktionen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3383280" cy="1554480"/>
          </a:xfrm>
          <a:prstGeom prst="roundRect">
            <a:avLst/>
          </a:prstGeom>
          <a:solidFill>
            <a:srgbClr val="DDEBF7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27048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Persistence-Test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speichern, lesen, alleLesen und aktualisieren wurden erfolgreich getestet.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383280" cy="1554480"/>
          </a:xfrm>
          <a:prstGeom prst="roundRect">
            <a:avLst/>
          </a:prstGeom>
          <a:solidFill>
            <a:srgbClr val="DDEBF7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1527048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Business-Test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auftragAnlegen, auftragLesen, alleAuftraegeLesen und statusAendern wurden erfolgreich getestet.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17320"/>
            <a:ext cx="3383280" cy="1554480"/>
          </a:xfrm>
          <a:prstGeom prst="roundRect">
            <a:avLst/>
          </a:prstGeom>
          <a:solidFill>
            <a:srgbClr val="DDEBF7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92440" y="1527048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Endbenutzertest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ConsoleClient erstellt mehrere Aufträge und zeigt Statuswechsel auf der Konsole 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657600"/>
            <a:ext cx="10332720" cy="14173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379476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6E6"/>
                </a:solidFill>
                <a:latin typeface="Consolas"/>
              </a:defRPr>
            </a:pPr>
            <a:r>
              <a:rPr>
                <a:latin typeface="Arial"/>
              </a:rPr>
              <a:t>Alle Persistence-Tests erfolgreich.</a:t>
            </a:r>
            <a:br/>
            <a:r>
              <a:rPr>
                <a:latin typeface="Arial"/>
              </a:rPr>
              <a:t>Alle Business-Tests erfolgreich.</a:t>
            </a:r>
            <a:br/>
            <a:r>
              <a:rPr>
                <a:latin typeface="Arial"/>
              </a:rPr>
              <a:t>WerkstattPilot Endbenutzertest: 3 Aufträge erstellt und Status geändert.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WerkstattPilot | Arbeitsgruppe 3 | Livio Luna / Dominic Lolos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Javadoc und Abgabe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Finaler technischer Stand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486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Java-Quelltexte enthalten Dateiköpfe und einfache Javadoc-Kommentare.</a:t>
            </a:r>
          </a:p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Javadoc wurde erzeugt und im Ordner javadoc_html abgelegt.</a:t>
            </a:r>
          </a:p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Eclipse-Projekt wurde als ZIP für die Abgabe vorbereitet.</a:t>
            </a:r>
          </a:p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Projektdokument und Arbeitsprotokoll wurden final bereinigt.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3255264"/>
            <a:ext cx="448056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3364992"/>
            <a:ext cx="42062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Abgabedateien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arbeitsgruppe3-projektarbeit.pdf</a:t>
            </a:r>
            <a:br/>
            <a:r>
              <a:rPr>
                <a:latin typeface="Arial"/>
              </a:rPr>
              <a:t>arbeitsgruppe3-praesentation.pdf</a:t>
            </a:r>
            <a:br/>
            <a:r>
              <a:rPr>
                <a:latin typeface="Arial"/>
              </a:rPr>
              <a:t>arbeitsgruppe3-eclipse-projekt.zip</a:t>
            </a:r>
            <a:br/>
            <a:r>
              <a:rPr>
                <a:latin typeface="Arial"/>
              </a:rPr>
              <a:t>arbeitsgruppe3-arbeitsprotokoll.xlsx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WerkstattPilot | Arbeitsgruppe 3 | Livio Luna / Dominic Lolos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Fazit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WerkstattPilot als durchgängiger Software-Engineering-Prozess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4008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rPr dirty="0">
                <a:latin typeface="Arial"/>
              </a:rPr>
              <a:t>Der rote Faden </a:t>
            </a:r>
            <a:r>
              <a:rPr dirty="0" err="1">
                <a:latin typeface="Arial"/>
              </a:rPr>
              <a:t>ist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durchgängig</a:t>
            </a:r>
            <a:r>
              <a:rPr dirty="0">
                <a:latin typeface="Arial"/>
              </a:rPr>
              <a:t>: </a:t>
            </a:r>
            <a:r>
              <a:rPr dirty="0" err="1">
                <a:latin typeface="Arial"/>
              </a:rPr>
              <a:t>Auftrag</a:t>
            </a:r>
            <a:r>
              <a:rPr dirty="0">
                <a:latin typeface="Arial"/>
              </a:rPr>
              <a:t> und Status </a:t>
            </a:r>
            <a:r>
              <a:rPr dirty="0" err="1">
                <a:latin typeface="Arial"/>
              </a:rPr>
              <a:t>stehen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im</a:t>
            </a:r>
            <a:r>
              <a:rPr dirty="0">
                <a:latin typeface="Arial"/>
              </a:rPr>
              <a:t> Zentrum.</a:t>
            </a:r>
          </a:p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rPr dirty="0" err="1">
                <a:latin typeface="Arial"/>
              </a:rPr>
              <a:t>Analyse</a:t>
            </a:r>
            <a:r>
              <a:rPr dirty="0">
                <a:latin typeface="Arial"/>
              </a:rPr>
              <a:t>, Design und Code </a:t>
            </a:r>
            <a:r>
              <a:rPr dirty="0" err="1">
                <a:latin typeface="Arial"/>
              </a:rPr>
              <a:t>wurden</a:t>
            </a:r>
            <a:r>
              <a:rPr dirty="0">
                <a:latin typeface="Arial"/>
              </a:rPr>
              <a:t> auf UC1 und UC2 </a:t>
            </a:r>
            <a:r>
              <a:rPr dirty="0" err="1">
                <a:latin typeface="Arial"/>
              </a:rPr>
              <a:t>ausgerichtet</a:t>
            </a:r>
            <a:r>
              <a:rPr dirty="0">
                <a:latin typeface="Arial"/>
              </a:rPr>
              <a:t>.</a:t>
            </a:r>
          </a:p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rPr dirty="0">
                <a:latin typeface="Arial"/>
              </a:rPr>
              <a:t>Die 3-Schichtenarchitektur </a:t>
            </a:r>
            <a:r>
              <a:rPr dirty="0" err="1">
                <a:latin typeface="Arial"/>
              </a:rPr>
              <a:t>trennt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Bedienung</a:t>
            </a:r>
            <a:r>
              <a:rPr dirty="0">
                <a:latin typeface="Arial"/>
              </a:rPr>
              <a:t>, </a:t>
            </a:r>
            <a:r>
              <a:rPr dirty="0" err="1">
                <a:latin typeface="Arial"/>
              </a:rPr>
              <a:t>Fachlogik</a:t>
            </a:r>
            <a:r>
              <a:rPr dirty="0">
                <a:latin typeface="Arial"/>
              </a:rPr>
              <a:t> und </a:t>
            </a:r>
            <a:r>
              <a:rPr dirty="0" err="1">
                <a:latin typeface="Arial"/>
              </a:rPr>
              <a:t>Datenzugriff</a:t>
            </a:r>
            <a:r>
              <a:rPr dirty="0">
                <a:latin typeface="Arial"/>
              </a:rPr>
              <a:t>.</a:t>
            </a:r>
          </a:p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rPr dirty="0">
                <a:latin typeface="Arial"/>
              </a:rPr>
              <a:t>Der </a:t>
            </a:r>
            <a:r>
              <a:rPr dirty="0" err="1">
                <a:latin typeface="Arial"/>
              </a:rPr>
              <a:t>Prototyp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zeigt</a:t>
            </a:r>
            <a:r>
              <a:rPr dirty="0">
                <a:latin typeface="Arial"/>
              </a:rPr>
              <a:t> die </a:t>
            </a:r>
            <a:r>
              <a:rPr dirty="0" err="1">
                <a:latin typeface="Arial"/>
              </a:rPr>
              <a:t>wichtigsten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Funktionen</a:t>
            </a:r>
            <a:r>
              <a:rPr dirty="0">
                <a:latin typeface="Arial"/>
              </a:rPr>
              <a:t> in </a:t>
            </a:r>
            <a:r>
              <a:rPr dirty="0" err="1">
                <a:latin typeface="Arial"/>
              </a:rPr>
              <a:t>einfacher</a:t>
            </a:r>
            <a:r>
              <a:rPr dirty="0">
                <a:latin typeface="Arial"/>
              </a:rPr>
              <a:t>, </a:t>
            </a:r>
            <a:r>
              <a:rPr dirty="0" err="1">
                <a:latin typeface="Arial"/>
              </a:rPr>
              <a:t>prüfbarer</a:t>
            </a:r>
            <a:r>
              <a:rPr dirty="0">
                <a:latin typeface="Arial"/>
              </a:rPr>
              <a:t> 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980944"/>
            <a:ext cx="36576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3150108"/>
            <a:ext cx="33832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 dirty="0">
                <a:latin typeface="Arial"/>
              </a:rPr>
              <a:t>Rollen in der </a:t>
            </a:r>
            <a:r>
              <a:rPr dirty="0" err="1">
                <a:latin typeface="Arial"/>
              </a:rPr>
              <a:t>Präsentation</a:t>
            </a:r>
            <a:endParaRPr dirty="0">
              <a:latin typeface="Arial"/>
            </a:endParaRP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 dirty="0">
                <a:latin typeface="Arial"/>
              </a:rPr>
              <a:t>Livio Luna:</a:t>
            </a:r>
            <a:br>
              <a:rPr dirty="0"/>
            </a:br>
            <a:r>
              <a:rPr dirty="0" err="1">
                <a:latin typeface="Arial"/>
              </a:rPr>
              <a:t>Projektauftrag</a:t>
            </a:r>
            <a:r>
              <a:rPr dirty="0">
                <a:latin typeface="Arial"/>
              </a:rPr>
              <a:t>, </a:t>
            </a:r>
            <a:r>
              <a:rPr dirty="0" err="1">
                <a:latin typeface="Arial"/>
              </a:rPr>
              <a:t>Projektumgebung</a:t>
            </a:r>
            <a:r>
              <a:rPr dirty="0">
                <a:latin typeface="Arial"/>
              </a:rPr>
              <a:t>, </a:t>
            </a:r>
            <a:r>
              <a:rPr dirty="0" err="1">
                <a:latin typeface="Arial"/>
              </a:rPr>
              <a:t>Analyse</a:t>
            </a:r>
            <a:br>
              <a:rPr dirty="0"/>
            </a:br>
            <a:br>
              <a:rPr dirty="0"/>
            </a:br>
            <a:r>
              <a:rPr dirty="0">
                <a:latin typeface="Arial"/>
              </a:rPr>
              <a:t>Dominic Lolos:</a:t>
            </a:r>
            <a:br>
              <a:rPr dirty="0"/>
            </a:br>
            <a:r>
              <a:rPr dirty="0">
                <a:latin typeface="Arial"/>
              </a:rPr>
              <a:t>Design, Implementation, Tests, Javadoc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WerkstattPilot | Arbeitsgruppe 3 | Livio Luna / Dominic Lolos |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835</Words>
  <Application>Microsoft Office PowerPoint</Application>
  <PresentationFormat>Breitbild</PresentationFormat>
  <Paragraphs>110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Livio Luna</cp:lastModifiedBy>
  <cp:revision>2</cp:revision>
  <dcterms:created xsi:type="dcterms:W3CDTF">2013-01-27T09:14:16Z</dcterms:created>
  <dcterms:modified xsi:type="dcterms:W3CDTF">2026-06-10T14:31:12Z</dcterms:modified>
  <cp:category/>
</cp:coreProperties>
</file>